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01 / 10 · 화면 명세서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F1729"/>
                </a:solidFill>
                <a:latin typeface="맑은 고딕"/>
              </a:rPr>
              <a:t>kdance — 실제 구현 수준
화면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C5266"/>
                </a:solidFill>
                <a:latin typeface="맑은 고딕"/>
              </a:rPr>
              <a:t>검색·추천, 관리자 업로드 자동등록, 뉴스피드·공지, 대학생 첫 결제 50%, 1+1
멤버십 할인권, 입점 1년 수수료 면제까지 — 2026-09-25 약관 기준으로 화면에 옮겼다.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948AA0"/>
                </a:solidFill>
                <a:latin typeface="맑은 고딕"/>
              </a:rPr>
              <a:t>탭바·카드 반경은 mobydick 실제 구현 패턴 참고 · 색은 kdance 고유 장르 5색 유지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02 / 10 · 소비자 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3152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가입 → 검색 → 상세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회원가입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46504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휴대폰 번호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92808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010-••••-5521 · 인증완료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130552"/>
            <a:ext cx="598932" cy="201168"/>
          </a:xfrm>
          <a:prstGeom prst="roundRect">
            <a:avLst>
              <a:gd name="adj" fmla="val 50000"/>
            </a:avLst>
          </a:prstGeom>
          <a:solidFill>
            <a:srgbClr val="3D4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130552"/>
            <a:ext cx="59893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댄스스포츠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76756" y="2130552"/>
            <a:ext cx="393192" cy="201168"/>
          </a:xfrm>
          <a:prstGeom prst="roundRect">
            <a:avLst>
              <a:gd name="adj" fmla="val 50000"/>
            </a:avLst>
          </a:prstGeom>
          <a:solidFill>
            <a:srgbClr val="D8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76756" y="2130552"/>
            <a:ext cx="3931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탱고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423160"/>
            <a:ext cx="1737359" cy="50292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468879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🎓 대학생이신가요?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2660904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학교 이메일 인증 시 3개월 요금제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회원가입 · 대학생 인증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장르 선호를 가입 시점에 받는다.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92424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학원 찾기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1746504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검색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1892808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강남 · 살사 · 평일 저녁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40" y="2130552"/>
            <a:ext cx="393192" cy="201168"/>
          </a:xfrm>
          <a:prstGeom prst="roundRect">
            <a:avLst>
              <a:gd name="adj" fmla="val 50000"/>
            </a:avLst>
          </a:prstGeom>
          <a:solidFill>
            <a:srgbClr val="DB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2130552"/>
            <a:ext cx="3931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살사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68496" y="2130552"/>
            <a:ext cx="461772" cy="201168"/>
          </a:xfrm>
          <a:prstGeom prst="roundRect">
            <a:avLst>
              <a:gd name="adj" fmla="val 50000"/>
            </a:avLst>
          </a:prstGeom>
          <a:solidFill>
            <a:srgbClr val="C1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68496" y="2130552"/>
            <a:ext cx="4617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바차타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0440" y="2423160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3592" y="2468879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라 클라베 스튜디오 ★4.9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93592" y="2660904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강남역 3번 출구 · 도보 5분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20440" y="2953512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93592" y="2999232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소셜살사 강남점 ★4.7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3191256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역삼역 1번 출구 · 도보 9분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503834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2044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5478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캘린더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피드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346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마이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홈 — 카테고리 검색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장르·지역·시간대 필터.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089903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19" y="1380744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1729"/>
                </a:solidFill>
                <a:latin typeface="맑은 고딕"/>
              </a:rPr>
              <a:t>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3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학원 상세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19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217919" y="1746504"/>
            <a:ext cx="1737359" cy="640080"/>
          </a:xfrm>
          <a:prstGeom prst="roundRect">
            <a:avLst>
              <a:gd name="adj" fmla="val 14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306055" y="2148840"/>
            <a:ext cx="5943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06055" y="2148840"/>
            <a:ext cx="594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1" i="0">
                <a:solidFill>
                  <a:srgbClr val="1F1729"/>
                </a:solidFill>
                <a:latin typeface="맑은 고딕"/>
              </a:rPr>
              <a:t>사진 6장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19" y="2459736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라 클라베 댄스 스튜디오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19" y="2606040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★4.9 (212) · 도보 5분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19" y="2843784"/>
            <a:ext cx="393192" cy="201168"/>
          </a:xfrm>
          <a:prstGeom prst="roundRect">
            <a:avLst>
              <a:gd name="adj" fmla="val 50000"/>
            </a:avLst>
          </a:prstGeom>
          <a:solidFill>
            <a:srgbClr val="DB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19" y="2843784"/>
            <a:ext cx="3931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살사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65975" y="2843784"/>
            <a:ext cx="461772" cy="201168"/>
          </a:xfrm>
          <a:prstGeom prst="roundRect">
            <a:avLst>
              <a:gd name="adj" fmla="val 50000"/>
            </a:avLst>
          </a:prstGeom>
          <a:solidFill>
            <a:srgbClr val="C1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65975" y="2843784"/>
            <a:ext cx="4617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바차타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19" y="3136391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91071" y="3182111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살사 중급반 · 45,000원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91071" y="3374135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화·목 20:00 · 8/12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504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학원 상세 페이지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3504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정원 대비 신청 인원으로 마감 임박을 보여준다.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03 / 10 · 소비자 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315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결제 → 일정 → 길찾기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80744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1729"/>
                </a:solidFill>
                <a:latin typeface="맑은 고딕"/>
              </a:rPr>
              <a:t>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결제하기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수업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92808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살사 중급반 · 화 20:00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30552"/>
            <a:ext cx="10771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5C5266"/>
                </a:solidFill>
                <a:latin typeface="맑은 고딕"/>
              </a:rPr>
              <a:t>수업료 (1개월)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0123" y="2130552"/>
            <a:ext cx="6601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" b="1" i="0">
                <a:solidFill>
                  <a:srgbClr val="1F1729"/>
                </a:solidFill>
                <a:latin typeface="맑은 고딕"/>
              </a:rPr>
              <a:t>180,000원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50008"/>
            <a:ext cx="10771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2E7D5B"/>
                </a:solidFill>
                <a:latin typeface="맑은 고딕"/>
              </a:rPr>
              <a:t>대학생 첫 결제 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0123" y="2350008"/>
            <a:ext cx="6601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" b="1" i="0">
                <a:solidFill>
                  <a:srgbClr val="2E7D5B"/>
                </a:solidFill>
                <a:latin typeface="맑은 고딕"/>
              </a:rPr>
              <a:t>-90,000원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551176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624328"/>
            <a:ext cx="10771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1729"/>
                </a:solidFill>
                <a:latin typeface="맑은 고딕"/>
              </a:rPr>
              <a:t>총 결제금액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0123" y="2624328"/>
            <a:ext cx="6601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1F1729"/>
                </a:solidFill>
                <a:latin typeface="맑은 고딕"/>
              </a:rPr>
              <a:t>90,000원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898648"/>
            <a:ext cx="1737359" cy="274320"/>
          </a:xfrm>
          <a:prstGeom prst="roundRect">
            <a:avLst>
              <a:gd name="adj" fmla="val 25000"/>
            </a:avLst>
          </a:prstGeom>
          <a:solidFill>
            <a:srgbClr val="F3EDF5"/>
          </a:solidFill>
          <a:ln w="13970">
            <a:solidFill>
              <a:srgbClr val="1F1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898648"/>
            <a:ext cx="155447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신용·체크카드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227832"/>
            <a:ext cx="1737359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227832"/>
            <a:ext cx="155447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카카오페이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557016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 i="0">
                <a:solidFill>
                  <a:srgbClr val="948AA0"/>
                </a:solidFill>
                <a:latin typeface="맑은 고딕"/>
              </a:rPr>
              <a:t>이 학원의 환불·취소 공지에 동의합니다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04 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체크아웃 — 결제 화면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할인·쿠폰이 항목별로 차감되는 걸 보여준다.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92424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내 일정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174650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68634" y="174650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16828" y="174650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5022" y="174650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3217" y="174650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61411" y="174650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09605" y="174650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191109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68634" y="191109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54057" y="1911096"/>
            <a:ext cx="173735" cy="173735"/>
          </a:xfrm>
          <a:prstGeom prst="roundRect">
            <a:avLst>
              <a:gd name="adj" fmla="val 5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16828" y="191109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22637" y="2079868"/>
            <a:ext cx="36576" cy="36576"/>
          </a:xfrm>
          <a:prstGeom prst="roundRect">
            <a:avLst>
              <a:gd name="adj" fmla="val 50000"/>
            </a:avLst>
          </a:prstGeom>
          <a:solidFill>
            <a:srgbClr val="DB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65022" y="191109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13217" y="191109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19026" y="2079868"/>
            <a:ext cx="36576" cy="36576"/>
          </a:xfrm>
          <a:prstGeom prst="roundRect">
            <a:avLst>
              <a:gd name="adj" fmla="val 50000"/>
            </a:avLst>
          </a:prstGeom>
          <a:solidFill>
            <a:srgbClr val="C1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61411" y="191109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9605" y="191109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20440" y="2194560"/>
            <a:ext cx="1737359" cy="457200"/>
          </a:xfrm>
          <a:prstGeom prst="roundRect">
            <a:avLst>
              <a:gd name="adj" fmla="val 14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520440" y="2194560"/>
            <a:ext cx="36576" cy="457200"/>
          </a:xfrm>
          <a:prstGeom prst="rect">
            <a:avLst/>
          </a:prstGeom>
          <a:solidFill>
            <a:srgbClr val="DB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30168" y="2249424"/>
            <a:ext cx="14081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1729"/>
                </a:solidFill>
                <a:latin typeface="맑은 고딕"/>
              </a:rPr>
              <a:t>🔔 살사 중급반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30168" y="2432304"/>
            <a:ext cx="14081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5C5266"/>
                </a:solidFill>
                <a:latin typeface="맑은 고딕"/>
              </a:rPr>
              <a:t>오늘 저녁 8:00 · 30분 전 알람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503834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2044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5478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캘린더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피드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2346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마이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3756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3756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캘린더 &amp; 알람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3756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결제 완료 시 자동으로 일정에 반영.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03504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089903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19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길찾기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19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17919" y="1746504"/>
            <a:ext cx="1737359" cy="1005840"/>
          </a:xfrm>
          <a:prstGeom prst="roundRect">
            <a:avLst>
              <a:gd name="adj" fmla="val 10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 flipV="1">
            <a:off x="6364223" y="1929384"/>
            <a:ext cx="1316736" cy="640080"/>
          </a:xfrm>
          <a:prstGeom prst="line">
            <a:avLst/>
          </a:prstGeom>
          <a:ln w="20320">
            <a:solidFill>
              <a:srgbClr val="D845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217919" y="2825496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91071" y="2871216"/>
            <a:ext cx="14447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🚶 도보 · 12분 · 850m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1071" y="3054096"/>
            <a:ext cx="14447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🚇 강남역 3번 출구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19" y="503834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1791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홈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5225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캘린더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8659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피드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2093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마이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3504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3504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길찾기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3504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예약 확인 화면에서 바로 진입.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04 / 10 · 소비자 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3152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피드 → 공지 → 마이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피드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746504"/>
            <a:ext cx="173735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746504"/>
            <a:ext cx="1737359" cy="201168"/>
          </a:xfrm>
          <a:prstGeom prst="roundRect">
            <a:avLst>
              <a:gd name="adj" fmla="val 16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1984248"/>
            <a:ext cx="402336" cy="146304"/>
          </a:xfrm>
          <a:prstGeom prst="roundRect">
            <a:avLst>
              <a:gd name="adj" fmla="val 50000"/>
            </a:avLst>
          </a:prstGeom>
          <a:solidFill>
            <a:srgbClr val="C1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84248"/>
            <a:ext cx="40233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 i="0">
                <a:solidFill>
                  <a:srgbClr val="FFFFFF"/>
                </a:solidFill>
                <a:latin typeface="맑은 고딕"/>
              </a:rPr>
              <a:t>파티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148840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강남 바차타 소셜파티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386584"/>
            <a:ext cx="173735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2386584"/>
            <a:ext cx="1737359" cy="201168"/>
          </a:xfrm>
          <a:prstGeom prst="roundRect">
            <a:avLst>
              <a:gd name="adj" fmla="val 16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7824" y="2624328"/>
            <a:ext cx="402336" cy="146304"/>
          </a:xfrm>
          <a:prstGeom prst="roundRect">
            <a:avLst>
              <a:gd name="adj" fmla="val 50000"/>
            </a:avLst>
          </a:prstGeom>
          <a:solidFill>
            <a:srgbClr val="3D4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2624328"/>
            <a:ext cx="40233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 i="0">
                <a:solidFill>
                  <a:srgbClr val="FFFFFF"/>
                </a:solidFill>
                <a:latin typeface="맑은 고딕"/>
              </a:rPr>
              <a:t>대회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2788920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2026 전국 챔피언십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03834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캘린더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3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피드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2597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마이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뉴스피드 — 파티·공연·대회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전 학원 통합 노출, 같은 업로드 파이프라인 산출물.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92424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1380744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1729"/>
                </a:solidFill>
                <a:latin typeface="맑은 고딕"/>
              </a:rPr>
              <a:t>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66744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라 클라베 공지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1746504"/>
            <a:ext cx="17373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📌 추석 연휴 휴강 안내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1929384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9/16 게시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039112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0440" y="2075688"/>
            <a:ext cx="17373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10월 정기 발표회 신청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2258568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9/12 게시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2368296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20440" y="2404872"/>
            <a:ext cx="17373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신규 바차타 강사 합류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2587752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9/5 게시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2697479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3756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학원별 공지 게시판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OCR 없이 텍스트로 바로 작성 — 속도 우선.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3504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089903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19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마이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19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17919" y="1746504"/>
            <a:ext cx="1737359" cy="685800"/>
          </a:xfrm>
          <a:prstGeom prst="roundRect">
            <a:avLst>
              <a:gd name="adj" fmla="val 16000"/>
            </a:avLst>
          </a:prstGeom>
          <a:solidFill>
            <a:srgbClr val="D8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1828800"/>
            <a:ext cx="137159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FFFFFF"/>
                </a:solidFill>
                <a:latin typeface="맑은 고딕"/>
              </a:rPr>
              <a:t>월 멤버십 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59" y="2002536"/>
            <a:ext cx="1371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다음 결제 10/13 · 15,000원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19" y="2523744"/>
            <a:ext cx="1737359" cy="402336"/>
          </a:xfrm>
          <a:prstGeom prst="roundRect">
            <a:avLst>
              <a:gd name="adj" fmla="val 20000"/>
            </a:avLst>
          </a:prstGeom>
          <a:noFill/>
          <a:ln w="15240">
            <a:solidFill>
              <a:srgbClr val="D84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1071" y="2569464"/>
            <a:ext cx="10972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🎟 1+1 할인권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91071" y="2743200"/>
            <a:ext cx="109727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5C5266"/>
                </a:solidFill>
                <a:latin typeface="맑은 고딕"/>
              </a:rPr>
              <a:t>사용가능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59" y="2569464"/>
            <a:ext cx="438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600" b="1" i="0">
                <a:solidFill>
                  <a:srgbClr val="D8452F"/>
                </a:solidFill>
                <a:latin typeface="맑은 고딕"/>
              </a:rPr>
              <a:t>D-18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19" y="2999232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예약 내역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47203" y="2999232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19" y="3236976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대학생 인증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47203" y="3236976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첫 결제 할인 사용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19" y="503834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1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5225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캘린더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8659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피드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20939" y="508406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마이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3504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3504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마이 — 멤버십·쿠폰 관리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3504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쿠폰 소멸일을 항상 보여준다.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05 / 10 · 학원 관리자 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315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업로드 → 검토 → 정산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포스터 업로드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746504"/>
            <a:ext cx="1737359" cy="77724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948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1737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포스터 · PDF · 인스타 캡처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67128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끌어다 놓거나 눌러서 선택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660904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10월_시간표.jpg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852928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처리중 · 09:41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관리자 · 업로드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형식 무관 — 이미지·PDF·스크린샷 전부 같은 경로.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92424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추출 결과 검토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20440" y="1746504"/>
            <a:ext cx="1737359" cy="502920"/>
          </a:xfrm>
          <a:prstGeom prst="roundRect">
            <a:avLst>
              <a:gd name="adj" fmla="val 14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08576" y="2011680"/>
            <a:ext cx="5943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2011680"/>
            <a:ext cx="594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1" i="0">
                <a:solidFill>
                  <a:srgbClr val="1F1729"/>
                </a:solidFill>
                <a:latin typeface="맑은 고딕"/>
              </a:rPr>
              <a:t>원본 보기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2322576"/>
            <a:ext cx="1737359" cy="365760"/>
          </a:xfrm>
          <a:prstGeom prst="roundRect">
            <a:avLst>
              <a:gd name="adj" fmla="val 14000"/>
            </a:avLst>
          </a:prstGeom>
          <a:noFill/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5304" y="2359152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장르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5304" y="2505456"/>
            <a:ext cx="91439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살사 중급반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2761488"/>
            <a:ext cx="1737359" cy="365760"/>
          </a:xfrm>
          <a:prstGeom prst="roundRect">
            <a:avLst>
              <a:gd name="adj" fmla="val 14000"/>
            </a:avLst>
          </a:prstGeom>
          <a:noFill/>
          <a:ln w="16510">
            <a:solidFill>
              <a:srgbClr val="D84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75304" y="2798064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시간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75304" y="2944368"/>
            <a:ext cx="91439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화 20:00–21:00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2944368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60" b="1" i="0">
                <a:solidFill>
                  <a:srgbClr val="D8452F"/>
                </a:solidFill>
                <a:latin typeface="맑은 고딕"/>
              </a:rPr>
              <a:t>확인필요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0440" y="3200400"/>
            <a:ext cx="1737359" cy="365760"/>
          </a:xfrm>
          <a:prstGeom prst="roundRect">
            <a:avLst>
              <a:gd name="adj" fmla="val 14000"/>
            </a:avLst>
          </a:prstGeom>
          <a:noFill/>
          <a:ln w="16510">
            <a:solidFill>
              <a:srgbClr val="D84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75304" y="3236976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가격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75304" y="3383280"/>
            <a:ext cx="91439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45,000원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90872" y="3383280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60" b="1" i="0">
                <a:solidFill>
                  <a:srgbClr val="D8452F"/>
                </a:solidFill>
                <a:latin typeface="맑은 고딕"/>
              </a:rPr>
              <a:t>확인필요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11 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관리자 · 검토 대기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신뢰도 낮은 필드에 빨간 태그. 이 화면 없이 게시 불가.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89903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19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이번 달 정산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19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17919" y="1746504"/>
            <a:ext cx="1737359" cy="685800"/>
          </a:xfrm>
          <a:prstGeom prst="roundRect">
            <a:avLst>
              <a:gd name="adj" fmla="val 16000"/>
            </a:avLst>
          </a:prstGeom>
          <a:solidFill>
            <a:srgbClr val="3D4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59" y="1828800"/>
            <a:ext cx="137159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FFFFFF"/>
                </a:solidFill>
                <a:latin typeface="맑은 고딕"/>
              </a:rPr>
              <a:t>실지급액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59" y="2002536"/>
            <a:ext cx="1371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3,414,000원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19" y="2523744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플랫폼 수수료 (5% · 1년 면제 중)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47203" y="2523744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0원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19" y="2761488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결제·카드 수수료 (수업료 몫 · 대표 부담)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47203" y="2761488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-76,000원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19" y="2999232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1+1 쿠폰 사용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7203" y="2999232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6건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19" y="3236976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신규 회원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47203" y="3236976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14명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관리자 · 정산 대시보드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1+1 쿠폰 사용 건수를 별도 표기. 예매 수수료가 붙은 결제는 수업료 몫 수수료만 공제.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06 / 10 · 취소·환불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3152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2286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취소 신청 → 환불 처리 → 행사 취소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80744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1729"/>
                </a:solidFill>
                <a:latin typeface="맑은 고딕"/>
              </a:rPr>
              <a:t>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예약 상세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파티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92808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할로윈 살사 파티 · 10/30(금)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30552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환불 마감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2243" y="2130552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10/26(월)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68296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오늘 취소하면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2243" y="2368296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8일 전 (9~7일 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606039"/>
            <a:ext cx="10771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5C5266"/>
                </a:solidFill>
                <a:latin typeface="맑은 고딕"/>
              </a:rPr>
              <a:t>참가비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0123" y="2606039"/>
            <a:ext cx="6601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" b="1" i="0">
                <a:solidFill>
                  <a:srgbClr val="1F1729"/>
                </a:solidFill>
                <a:latin typeface="맑은 고딕"/>
              </a:rPr>
              <a:t>30,000원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825496"/>
            <a:ext cx="10771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5C5266"/>
                </a:solidFill>
                <a:latin typeface="맑은 고딕"/>
              </a:rPr>
              <a:t>취소 수수료 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0123" y="2825496"/>
            <a:ext cx="6601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" b="1" i="0">
                <a:solidFill>
                  <a:srgbClr val="1F1729"/>
                </a:solidFill>
                <a:latin typeface="맑은 고딕"/>
              </a:rPr>
              <a:t>-3,000원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044952"/>
            <a:ext cx="10771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5C5266"/>
                </a:solidFill>
                <a:latin typeface="맑은 고딕"/>
              </a:rPr>
              <a:t>예매 수수료 (환불 안 됨)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0123" y="3044952"/>
            <a:ext cx="6601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" b="1" i="0">
                <a:solidFill>
                  <a:srgbClr val="1F1729"/>
                </a:solidFill>
                <a:latin typeface="맑은 고딕"/>
              </a:rPr>
              <a:t>2,000원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246120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319272"/>
            <a:ext cx="10771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1729"/>
                </a:solidFill>
                <a:latin typeface="맑은 고딕"/>
              </a:rPr>
              <a:t>예상 환불액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00123" y="3319272"/>
            <a:ext cx="6601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1F1729"/>
                </a:solidFill>
                <a:latin typeface="맑은 고딕"/>
              </a:rPr>
              <a:t>27,000원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593592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처리 기한 (3영업일)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2243" y="3593592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10/27(화)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31336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0" i="0">
                <a:solidFill>
                  <a:srgbClr val="948AA0"/>
                </a:solidFill>
                <a:latin typeface="맑은 고딕"/>
              </a:rPr>
              <a:t>기한이 지나면 이 금액으로 자동 환불된다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13 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회원 · 예약 상세 취소 신청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이벤트형 전용. 구간·공제율·예상 환불액·처리 기한을 먼저 보여준다.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92424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환불 처리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520440" y="1746504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40" y="1746504"/>
            <a:ext cx="53035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이벤트형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05656" y="1746504"/>
            <a:ext cx="598932" cy="201168"/>
          </a:xfrm>
          <a:prstGeom prst="roundRect">
            <a:avLst>
              <a:gd name="adj" fmla="val 50000"/>
            </a:avLst>
          </a:prstGeom>
          <a:solidFill>
            <a:srgbClr val="948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05656" y="1746504"/>
            <a:ext cx="59893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정규·일반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2039112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자동 실행까지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9724" y="2039112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1영업일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0440" y="2276856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취소 신청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0440" y="2423160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할로윈 살사 파티 · 김**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20440" y="2660904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93592" y="2706624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환불액 27,000원 (시스템 계산)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3592" y="2898648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9~7일 전 · 수수료 10% · 올리기만 가능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3191256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거절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49724" y="3191256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불가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20440" y="3429000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93592" y="3474720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정규·일반 수업 요청이면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93592" y="3666744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여부·금액·근거 항목을 대표가 입력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3756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3756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관리자 · 환불 처리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3756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이벤트형은 계산값을 올리기만 한다. 처리 기간이 지나면 시스템이 자동 실행.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123444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089903" y="128930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19" y="1380744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1729"/>
                </a:solidFill>
                <a:latin typeface="맑은 고딕"/>
              </a:rPr>
              <a:t>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64223" y="138074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행사 취소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19" y="165506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19" y="1746504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행사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19" y="1892808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할로윈 살사 파티 · 10/30(금)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19" y="2130552"/>
            <a:ext cx="1737359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59" y="2130552"/>
            <a:ext cx="155447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불가항력 (천재지변·행정명령)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17919" y="2459736"/>
            <a:ext cx="1737359" cy="274320"/>
          </a:xfrm>
          <a:prstGeom prst="roundRect">
            <a:avLst>
              <a:gd name="adj" fmla="val 25000"/>
            </a:avLst>
          </a:prstGeom>
          <a:solidFill>
            <a:srgbClr val="F3EDF5"/>
          </a:solidFill>
          <a:ln w="13970">
            <a:solidFill>
              <a:srgbClr val="1F1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59" y="2459736"/>
            <a:ext cx="155447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대표 사정·운영상 이유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19" y="2788920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한 줄 설명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47203" y="2788920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인원 미달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19" y="3026663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결제자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47203" y="3026663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24명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19" y="3264407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환불 총액 (예매 수수료 포함)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47203" y="3264407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768,000원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19" y="3502151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예매 수수료 몫 PG 수수료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47203" y="3502151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대표 · 상계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35040" y="5541264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15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35040" y="57424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관리자 · 행사 일괄 취소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35040" y="5980176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대표만 확정. 전원 전액 PG 일괄 환불, 연기 선택지·계좌 송금 없음.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07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약관 초안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1729"/>
                </a:solidFill>
                <a:latin typeface="맑은 고딕"/>
              </a:rPr>
              <a:t>이용약관 핵심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C5266"/>
                </a:solidFill>
                <a:latin typeface="맑은 고딕"/>
              </a:rPr>
              <a:t>실제 약관은 아님 — 변호사 검토 전 초안. 화면·정책이 서로 안 어긋나는지 확인하는 용도.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780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729"/>
                </a:solidFill>
                <a:latin typeface="맑은 고딕"/>
              </a:rPr>
              <a:t>결제·환불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39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정규·일반 — 문의로 요청, 대표가 결정·실행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이벤트형 — 시스템 계산, 대표는 올리기만, 3영업일 뒤 자동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예매 수수료 2,000원 환불 불가(휴강·폐강·행사 취소·청약철회 예외)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317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780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729"/>
                </a:solidFill>
                <a:latin typeface="맑은 고딕"/>
              </a:rPr>
              <a:t>대학생 혜택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34639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.ac.kr 인증, 1인 1회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첫 결제 1회 50%, 차액 학원 부담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23317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24780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729"/>
                </a:solidFill>
                <a:latin typeface="맑은 고딕"/>
              </a:rPr>
              <a:t>멤버십 · 1+1 할인권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834639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결제 뒤 환불 없음, 해지만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3개월 유지마다 1장, 추가 수업 1달치 50%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782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729"/>
                </a:solidFill>
                <a:latin typeface="맑은 고딕"/>
              </a:rPr>
              <a:t>학원 정산 · 베타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3484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매월 5일 정산, 수수료 5%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입점 1년 면제, 이후 정상 청구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예매 수수료 붙은 결제는 수업료 몫 수수료만 부담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9319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0782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729"/>
                </a:solidFill>
                <a:latin typeface="맑은 고딕"/>
              </a:rPr>
              <a:t>업로드 콘텐츠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43484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저작권·초상권은 업로드 학원 책임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관리자 확인 전엔 게시·노출 안 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59" y="39319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9" y="40782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1729"/>
                </a:solidFill>
                <a:latin typeface="맑은 고딕"/>
              </a:rPr>
              <a:t>개인정보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443484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전화번호 — 본인인증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5266"/>
                </a:solidFill>
                <a:latin typeface="맑은 고딕"/>
              </a:rPr>
              <a:t>· 위치정보 — 길찾기 목적, 미저장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08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사용 절차 · 회원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1729"/>
                </a:solidFill>
                <a:latin typeface="맑은 고딕"/>
              </a:rPr>
              <a:t>회원 — 가입부터 길찾기까지 6단계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842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가입 · 인증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8424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휴대폰 본인인증, 관심 장르 선택. 대학생이면 학교 이메일 인증(선택).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96312"/>
            <a:ext cx="10881360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4261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검색 · 추천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4261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장르·지역·시간대로 학원을 찾거나 홈 추천에서 고른다.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54679"/>
            <a:ext cx="10881360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0098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학원 상세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30098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시간표·정원·리뷰를 보고 수업을 고른다.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13048"/>
            <a:ext cx="10881360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41063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959351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결제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959351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할인·쿠폰이 자동 적용된 금액을 확인하고 결제한다.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71416"/>
            <a:ext cx="10881360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99431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61771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캘린더 · 알람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617719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예약이 자동으로 일정에 들어가고 30분 전 알람이 온다.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129783"/>
            <a:ext cx="10881360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57799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276087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길찾기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2760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당일 예약 확인 화면에서 바로 경로 안내로 이동한다.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09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사용 절차 · 학원 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1729"/>
                </a:solidFill>
                <a:latin typeface="맑은 고딕"/>
              </a:rPr>
              <a:t>학원 관리자 — 가입부터 정산까지 5단계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842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사업자 가입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8424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정산 계좌·사업자등록증 등록.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32887"/>
            <a:ext cx="10881360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79191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7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포스터 업로드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97479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쓰던 홍보물을 그대로 올린다 — 형식 무관.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10881360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9242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107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추출 결과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410712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자동으로 채워진 필드를 확인·수정하고 게시한다.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59352"/>
            <a:ext cx="10881360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0565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12394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예약 · 정산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12394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매월 5일 입금 내역과 1+1 쿠폰 사용 건수를 확인한다.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72584"/>
            <a:ext cx="10881360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1888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8801A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83717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1729"/>
                </a:solidFill>
                <a:latin typeface="맑은 고딕"/>
              </a:rPr>
              <a:t>피드 · 공지 운영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83717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5266"/>
                </a:solidFill>
                <a:latin typeface="맑은 고딕"/>
              </a:rPr>
              <a:t>파티·대회는 같은 업로드 경로로, 급한 공지는 텍스트로.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맑은 고딕"/>
              </a:rPr>
              <a:t>kdance 화면 명세서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C8BED2"/>
                </a:solidFill>
                <a:latin typeface="맑은 고딕"/>
              </a:rPr>
              <a:t>10 / 10 · docs/kdance 폴더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