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01 / 09 · 화면 명세서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F1729"/>
                </a:solidFill>
                <a:latin typeface="맑은 고딕"/>
              </a:rPr>
              <a:t>kdance — 실제 구현 수준
화면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C5266"/>
                </a:solidFill>
                <a:latin typeface="맑은 고딕"/>
              </a:rPr>
              <a:t>검색·추천, 관리자 업로드 자동등록, 뉴스피드·공지, 대학생 3개월 요금제, 분기 1+1
구독쿠폰, 6개월 베타까지 — 지금까지 정한 것을 전부 화면으로 옮겼다.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8AA0"/>
                </a:solidFill>
                <a:latin typeface="맑은 고딕"/>
              </a:rPr>
              <a:t>탭바·카드 반경은 mobydick 실제 구현 패턴 참고 · 색은 kdance 고유 장르 5색 유지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02 / 09 · 소비자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가입 → 검색 → 상세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회원가입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휴대폰 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010-••••-5521 · 인증완료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30552"/>
            <a:ext cx="598932" cy="201168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30552"/>
            <a:ext cx="5989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댄스스포츠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6756" y="213055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6756" y="213055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탱고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423160"/>
            <a:ext cx="1737359" cy="50292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6887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🎓 대학생이신가요?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660904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학교 이메일 인증 시 3개월 요금제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회원가입 · 대학생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장르 선호를 가입 시점에 받는다.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찾기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검색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강남 · 살사 · 평일 저녁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213055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213055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살사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68496" y="2130552"/>
            <a:ext cx="461772" cy="201168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8496" y="2130552"/>
            <a:ext cx="4617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바차타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242316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46887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라 클라베 스튜디오 ★4.9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2660904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강남역 3번 출구 · 도보 5분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2953512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2999232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소셜살사 강남점 ★4.7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3191256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역삼역 1번 출구 · 도보 9분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478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346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홈 — 카테고리 검색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장르·지역·시간대 필터.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19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3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상세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17919" y="1746504"/>
            <a:ext cx="1737359" cy="64008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06055" y="214884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06055" y="214884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사진 6장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19" y="2459736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라 클라베 댄스 스튜디오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19" y="2606040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★4.9 (212) · 도보 5분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19" y="2843784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19" y="2843784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살사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65975" y="2843784"/>
            <a:ext cx="461772" cy="201168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5975" y="2843784"/>
            <a:ext cx="4617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바차타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19" y="3136391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1" y="3182111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45,000원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1" y="3374135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화·목 20:00 · 8/12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학원 상세 페이지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정원 대비 신청 인원으로 마감 임박을 보여준다.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03 / 09 · 소비자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결제 → 일정 → 길찾기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결제하기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수업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화 20:00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30552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수업료 (1개월)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0123" y="2130552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180,000원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2E7D5B"/>
                </a:solidFill>
                <a:latin typeface="맑은 고딕"/>
              </a:rPr>
              <a:t>대학생 2개월차 반값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123" y="235000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2E7D5B"/>
                </a:solidFill>
                <a:latin typeface="맑은 고딕"/>
              </a:rPr>
              <a:t>-90,000원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9464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2E7D5B"/>
                </a:solidFill>
                <a:latin typeface="맑은 고딕"/>
              </a:rPr>
              <a:t>분기 1+1 쿠폰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0123" y="2569464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2E7D5B"/>
                </a:solidFill>
                <a:latin typeface="맑은 고딕"/>
              </a:rPr>
              <a:t>적용됨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70632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843784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총 결제금액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0123" y="2843784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1F1729"/>
                </a:solidFill>
                <a:latin typeface="맑은 고딕"/>
              </a:rPr>
              <a:t>90,000원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18104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3EDF5"/>
          </a:solidFill>
          <a:ln w="13970">
            <a:solidFill>
              <a:srgbClr val="1F1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18104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신용·체크카드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47288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카카오페이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76472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 i="0">
                <a:solidFill>
                  <a:srgbClr val="948AA0"/>
                </a:solidFill>
                <a:latin typeface="맑은 고딕"/>
              </a:rPr>
              <a:t>취소·환불 정책에 동의합니다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04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체크아웃 — 결제 화면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할인·쿠폰이 항목별로 차감되는 걸 보여준다.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내 일정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8634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6828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5022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3217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1411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9605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8634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54057" y="1911096"/>
            <a:ext cx="173735" cy="173735"/>
          </a:xfrm>
          <a:prstGeom prst="roundRect">
            <a:avLst>
              <a:gd name="adj" fmla="val 5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16828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22637" y="2079868"/>
            <a:ext cx="36576" cy="36576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5022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3217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9026" y="2079868"/>
            <a:ext cx="36576" cy="36576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61411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9605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20440" y="2194560"/>
            <a:ext cx="1737359" cy="457200"/>
          </a:xfrm>
          <a:prstGeom prst="roundRect">
            <a:avLst>
              <a:gd name="adj" fmla="val 14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20440" y="2194560"/>
            <a:ext cx="36576" cy="457200"/>
          </a:xfrm>
          <a:prstGeom prst="rect">
            <a:avLst/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0168" y="224942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🔔 살사 중급반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243230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5C5266"/>
                </a:solidFill>
                <a:latin typeface="맑은 고딕"/>
              </a:rPr>
              <a:t>오늘 저녁 8:00 · 30분 전 알람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40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4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5478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캘린더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2346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캘린더 &amp; 알람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결제 완료 시 자동으로 일정에 반영.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19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17919" y="1746504"/>
            <a:ext cx="1737359" cy="1005840"/>
          </a:xfrm>
          <a:prstGeom prst="roundRect">
            <a:avLst>
              <a:gd name="adj" fmla="val 10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6364223" y="1929384"/>
            <a:ext cx="1316736" cy="640080"/>
          </a:xfrm>
          <a:prstGeom prst="line">
            <a:avLst/>
          </a:prstGeom>
          <a:ln w="20320">
            <a:solidFill>
              <a:srgbClr val="D84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217919" y="2825496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1071" y="287121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🚶 도보 · 12분 · 850m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071" y="305409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🚇 강남역 3번 출구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19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1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225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59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093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예약 확인 화면에서 바로 진입.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04 / 09 · 소비자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피드 → 공지 → 마이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피드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4650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4650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984248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84248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파티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148840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강남 바차타 소셜파티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38658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38658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2624328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624328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대회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788920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2026 전국 챔피언십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3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597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뉴스피드 — 파티·공연·대회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전 학원 통합 노출, 같은 업로드 파이프라인 산출물.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라 클라베 공지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1746504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📌 추석 연휴 휴강 안내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192938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9/16 게시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039112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2075688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10월 정기 발표회 신청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2258568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9/12 게시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2368296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2404872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신규 바차타 강사 합류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587752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9/5 게시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2697479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학원별 공지 게시판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OCR 없이 텍스트로 바로 작성 — 속도 우선.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19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마이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19" y="1746504"/>
            <a:ext cx="1737359" cy="685800"/>
          </a:xfrm>
          <a:prstGeom prst="roundRect">
            <a:avLst>
              <a:gd name="adj" fmla="val 16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182880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월 구독 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59" y="200253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다음 결제 10/13 · 15,000원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19" y="2523744"/>
            <a:ext cx="1737359" cy="402336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1" y="2569464"/>
            <a:ext cx="1097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🎟 이번 분기 1+1 수강권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1071" y="2743200"/>
            <a:ext cx="109727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5C5266"/>
                </a:solidFill>
                <a:latin typeface="맑은 고딕"/>
              </a:rPr>
              <a:t>사용가능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59" y="2569464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600" b="1" i="0">
                <a:solidFill>
                  <a:srgbClr val="D8452F"/>
                </a:solidFill>
                <a:latin typeface="맑은 고딕"/>
              </a:rPr>
              <a:t>D-18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19" y="299923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예약 내역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47203" y="299923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19" y="3236976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대학생 인증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47203" y="3236976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2개월차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19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1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225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59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2093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마이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마이 — 구독·쿠폰 관리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쿠폰 소멸일을 항상 보여준다.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05 / 09 · 학원 관리자 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업로드 → 검토 → 정산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포스터 업로드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46504"/>
            <a:ext cx="1737359" cy="7772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948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1737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포스터 · PDF · 인스타 캡처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6712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끌어다 놓거나 눌러서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60904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10월_시간표.jpg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852928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처리중 · 09:41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형식 무관 — 이미지·PDF·스크린샷 전부 같은 경로.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추출 결과 검토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1746504"/>
            <a:ext cx="1737359" cy="50292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08576" y="201168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201168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원본 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2322576"/>
            <a:ext cx="1737359" cy="36576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2359152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장르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2505456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살사 중급반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761488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2798064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2944368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화 20:00–21:00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944368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3200400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5304" y="3236976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가격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5304" y="3383280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45,000원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3383280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11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검토 대기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신뢰도 낮은 필드에 빨간 태그. 이 화면 없이 게시 불가.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19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이번 달 정산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17919" y="1746504"/>
            <a:ext cx="1737359" cy="685800"/>
          </a:xfrm>
          <a:prstGeom prst="roundRect">
            <a:avLst>
              <a:gd name="adj" fmla="val 16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182880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실지급액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200253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3,214,000원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19" y="2523744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플랫폼 수수료 (8%)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7203" y="2523744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-276,000원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19" y="2761488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1+1 쿠폰 사용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7203" y="2761488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6건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19" y="299923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신규 회원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7203" y="299923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14명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정산 대시보드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1+1 쿠폰 사용 건수를 별도 표기.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06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약관 초안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1729"/>
                </a:solidFill>
                <a:latin typeface="맑은 고딕"/>
              </a:rPr>
              <a:t>이용약관 핵심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5266"/>
                </a:solidFill>
                <a:latin typeface="맑은 고딕"/>
              </a:rPr>
              <a:t>실제 약관은 아님 — 변호사 검토 전 초안. 화면·정책이 서로 안 어긋나는지 확인하는 용도.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780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결제·환불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39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24시간 전 취소 — 전액 환불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플랫폼은 통신판매중개자임을 결제화면에 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780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대학생 요금제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39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.ac.kr 인증, 1인 1회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1개월 무료→2개월 반값→3개월 정상가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3317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4780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구독 · 1+1 쿠폰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834639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언제든 해지 가능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분기 1장(연4회), 기존 결제 1건 이상 필요, 학원 부담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782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학원 정산 · 베타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매월 5일 정산, 수수료 8%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베타 6개월 면제, 7개월차부터 정상 청구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782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업로드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348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저작권·초상권은 업로드 학원 책임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관리자 확인 전엔 게시·노출 안 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3931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40782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개인정보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4348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전화번호 — 본인인증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위치정보 — 길찾기 목적, 미저장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07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사용 절차 · 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1729"/>
                </a:solidFill>
                <a:latin typeface="맑은 고딕"/>
              </a:rPr>
              <a:t>회원 — 가입부터 길찾기까지 6단계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84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가입 ·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842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휴대폰 본인인증, 관심 장르 선택. 대학생이면 학교 이메일 인증(선택).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96312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426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검색 ·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4261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장르·지역·시간대로 학원을 찾거나 홈 추천에서 고른다.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79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009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학원 상세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0098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시간표·정원·리뷰를 보고 수업을 고른다.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13048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41063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5935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95935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할인·쿠폰이 자동 적용된 금액을 확인하고 결제한다.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71416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9943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177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캘린더 · 알람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17719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예약이 자동으로 일정에 들어가고 30분 전 알람이 온다.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29783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79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760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2760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당일 예약 확인 화면에서 바로 경로 안내로 이동한다.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08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사용 절차 · 학원 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1729"/>
                </a:solidFill>
                <a:latin typeface="맑은 고딕"/>
              </a:rPr>
              <a:t>학원 관리자 — 가입부터 정산까지 5단계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84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사업자 가입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842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정산 계좌·사업자등록증 등록.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32887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포스터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79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쓰던 홍보물을 그대로 올린다 — 형식 무관.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107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추출 결과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1071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자동으로 채워진 필드를 확인·수정하고 게시한다.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59352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239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예약 · 정산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2394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매월 5일 입금 내역과 1+1 쿠폰 사용 건수를 확인한다.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72584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188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371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피드 · 공지 운영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3717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파티·대회는 같은 업로드 경로로, 급한 공지는 텍스트로.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</a:rPr>
              <a:t>kdance 화면 명세서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C8BED2"/>
                </a:solidFill>
                <a:latin typeface="맑은 고딕"/>
              </a:rPr>
              <a:t>09 / 09 · docs/kdance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