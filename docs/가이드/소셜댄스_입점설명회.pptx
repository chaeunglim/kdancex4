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01 / 09 · 입점 설명회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F1729"/>
                </a:solidFill>
                <a:latin typeface="맑은 고딕"/>
              </a:rPr>
              <a:t>춤출 곳을 못 찾아서</a:t>
            </a:r>
          </a:p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1F1729"/>
                </a:solidFill>
                <a:latin typeface="맑은 고딕"/>
              </a:rPr>
              <a:t>안 오는 회원은, 없앱니다.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C5266"/>
                </a:solidFill>
                <a:latin typeface="맑은 고딕"/>
              </a:rPr>
              <a:t>검색 → 예약 → 결제 → 정산까지 한 앱에서 끝나는 소셜댄스 전문 플랫폼.
시간표는 쓰시던 포스터 사진 한 장만 올리면 자동으로 등록됩니다.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4480560"/>
            <a:ext cx="109728" cy="109728"/>
          </a:xfrm>
          <a:prstGeom prst="ellipse">
            <a:avLst/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804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댄스스포츠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43434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4480560"/>
            <a:ext cx="109728" cy="109728"/>
          </a:xfrm>
          <a:prstGeom prst="ellipse">
            <a:avLst/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43434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아르헨티나 탱고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4343400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9312" y="4480560"/>
            <a:ext cx="109728" cy="109728"/>
          </a:xfrm>
          <a:prstGeom prst="ellipse">
            <a:avLst/>
          </a:prstGeom>
          <a:solidFill>
            <a:srgbClr val="B8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4343400"/>
            <a:ext cx="6766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스윙댄스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4343400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4879" y="4480560"/>
            <a:ext cx="109728" cy="109728"/>
          </a:xfrm>
          <a:prstGeom prst="ellipse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4343400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살사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34340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14416" y="4480560"/>
            <a:ext cx="109728" cy="109728"/>
          </a:xfrm>
          <a:prstGeom prst="ellipse">
            <a:avLst/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4343400"/>
            <a:ext cx="548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바차타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8AA0"/>
                </a:solidFill>
                <a:latin typeface="맑은 고딕"/>
              </a:rPr>
              <a:t>대상 — 입점 검토 중인 댄스 학원 원장님   ·   형식 — 실제 구현 화면 12개 기준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02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지금 학원이 겪는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1729"/>
                </a:solidFill>
                <a:latin typeface="맑은 고딕"/>
              </a:rPr>
              <a:t>숫자로 보면, 문제는 셋뿐입니다.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신규 문의가 “검색”에서 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블로그·SNS로는 장르별 취향까지 걸러진 사람을 찾기 어렵습니다.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1/5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수업의 노쇼·지각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예약 확인 전화, 알람 문자를 원장님이 직접 보내는 학원이 대부분입니다.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10312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D8452F"/>
                </a:solidFill>
                <a:latin typeface="맑은 고딕"/>
              </a:rPr>
              <a:t>월 6시간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3063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수기 장부·정산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52044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현금·계좌이체·카드가 섞인 결제 내역을 매달 손으로 맞추는 시간입니다.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03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가입 장벽을 낮춰서, 검색까지 바로 갑니다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회원가입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휴대폰 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010-••••-5521 · 인증완료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67712"/>
            <a:ext cx="598932" cy="201168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59893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댄스스포츠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76756" y="226771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6756" y="226771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탱고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56032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60603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🎓 대학생이신가요?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798063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학교 이메일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회원가입 3초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본인인증만 하면 바로 시작 — 이탈 없이 검색으로 넘어갑니다.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찾기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검색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강남 · 살사 · 평일 저녁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267712"/>
            <a:ext cx="393192" cy="201168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267712"/>
            <a:ext cx="39319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살사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8496" y="2267712"/>
            <a:ext cx="461772" cy="201168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8496" y="2267712"/>
            <a:ext cx="4617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맑은 고딕"/>
              </a:rPr>
              <a:t>바차타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2560320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2" y="2606039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라 클라베 스튜디오 ★4.9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2798063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강남역 3번 출구 · 도보 5분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478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34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취향까지 걸러서 검색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장르·지역·시간대로 좁힌 사람이 학원 앞까지 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19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3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학원 상세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19" y="1883664"/>
            <a:ext cx="1737359" cy="64008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06055" y="228600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06055" y="228600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사진 6장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19" y="2596896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라 클라베 댄스 스튜디오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19" y="2743200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★4.9 (212) · 도보 5분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19" y="298094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1" y="3026663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45,000원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1" y="3218687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화·목 20:00 · 8/12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전화 문의가 줄어듭니다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사진·시간표·정원까지 한 화면 — 물어볼 게 없어집니다.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04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결제부터 방문까지, 이탈 없이 이어집니다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결제하기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8366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948AA0"/>
                </a:solidFill>
                <a:latin typeface="맑은 고딕"/>
              </a:rPr>
              <a:t>수업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살사 중급반 · 화 20:00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67712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5C5266"/>
                </a:solidFill>
                <a:latin typeface="맑은 고딕"/>
              </a:rPr>
              <a:t>수업료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123" y="2267712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1F1729"/>
                </a:solidFill>
                <a:latin typeface="맑은 고딕"/>
              </a:rPr>
              <a:t>180,000원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2E7D5B"/>
                </a:solidFill>
                <a:latin typeface="맑은 고딕"/>
              </a:rPr>
              <a:t>대학생 할인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0123" y="248716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" b="1" i="0">
                <a:solidFill>
                  <a:srgbClr val="2E7D5B"/>
                </a:solidFill>
                <a:latin typeface="맑은 고딕"/>
              </a:rPr>
              <a:t>-90,000원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688336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61488"/>
            <a:ext cx="10771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총 결제금액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0123" y="2761488"/>
            <a:ext cx="6601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1F1729"/>
                </a:solidFill>
                <a:latin typeface="맑은 고딕"/>
              </a:rPr>
              <a:t>90,000원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035808"/>
            <a:ext cx="1737359" cy="274320"/>
          </a:xfrm>
          <a:prstGeom prst="roundRect">
            <a:avLst>
              <a:gd name="adj" fmla="val 25000"/>
            </a:avLst>
          </a:prstGeom>
          <a:solidFill>
            <a:srgbClr val="F3EDF5"/>
          </a:solidFill>
          <a:ln w="13970">
            <a:solidFill>
              <a:srgbClr val="1F17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35808"/>
            <a:ext cx="155447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신용·체크카드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투명한 결제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할인·쿠폰이 항목별로 보여서 결제 중 이탈이 없습니다.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내 일정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8634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6828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5022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3217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1411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9605" y="1883664"/>
            <a:ext cx="2481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i="0">
                <a:solidFill>
                  <a:srgbClr val="5C5266"/>
                </a:solidFill>
                <a:latin typeface="맑은 고딕"/>
              </a:rPr>
              <a:t>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8634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4057" y="2048256"/>
            <a:ext cx="173735" cy="173735"/>
          </a:xfrm>
          <a:prstGeom prst="roundRect">
            <a:avLst>
              <a:gd name="adj" fmla="val 5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6828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22637" y="2217028"/>
            <a:ext cx="36576" cy="36576"/>
          </a:xfrm>
          <a:prstGeom prst="roundRect">
            <a:avLst>
              <a:gd name="adj" fmla="val 50000"/>
            </a:avLst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5022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3217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9026" y="2217028"/>
            <a:ext cx="36576" cy="36576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61411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9605" y="2048256"/>
            <a:ext cx="248194" cy="1737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0">
                <a:solidFill>
                  <a:srgbClr val="5C5266"/>
                </a:solidFill>
                <a:latin typeface="맑은 고딕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2331720"/>
            <a:ext cx="1737359" cy="457200"/>
          </a:xfrm>
          <a:prstGeom prst="roundRect">
            <a:avLst>
              <a:gd name="adj" fmla="val 14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20440" y="2331720"/>
            <a:ext cx="36576" cy="457200"/>
          </a:xfrm>
          <a:prstGeom prst="rect">
            <a:avLst/>
          </a:prstGeom>
          <a:solidFill>
            <a:srgbClr val="DB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0168" y="238658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F1729"/>
                </a:solidFill>
                <a:latin typeface="맑은 고딕"/>
              </a:rPr>
              <a:t>🔔 살사 중급반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30168" y="2569464"/>
            <a:ext cx="14081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5C5266"/>
                </a:solidFill>
                <a:latin typeface="맑은 고딕"/>
              </a:rPr>
              <a:t>오늘 저녁 8:00 · 30분 전 알람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5478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캘린더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34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노쇼가 줄어듭니다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결제 즉시 캘린더 등록, 수업 30분 전 자동 알람.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길찾기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17919" y="1883664"/>
            <a:ext cx="1737359" cy="1005840"/>
          </a:xfrm>
          <a:prstGeom prst="roundRect">
            <a:avLst>
              <a:gd name="adj" fmla="val 10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6364223" y="2066544"/>
            <a:ext cx="1316736" cy="640080"/>
          </a:xfrm>
          <a:prstGeom prst="line">
            <a:avLst/>
          </a:prstGeom>
          <a:ln w="20320">
            <a:solidFill>
              <a:srgbClr val="D845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217919" y="2962656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1" y="300837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🚶 도보 · 12분 · 850m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1" y="3191256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🚇 강남역 3번 출구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19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1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225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59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209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첫 방문 포기를 막습니다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예약 확인 화면에서 바로 경로 안내로 이어집니다.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05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회원 화면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재방문과 노출까지 앱이 대신합니다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피드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8366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88366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" y="2121408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C1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121408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파티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286000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강남 바차타 소셜파티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23744"/>
            <a:ext cx="1737359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523744"/>
            <a:ext cx="1737359" cy="201168"/>
          </a:xfrm>
          <a:prstGeom prst="roundRect">
            <a:avLst>
              <a:gd name="adj" fmla="val 16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2761487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761487"/>
            <a:ext cx="402336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" b="1" i="0">
                <a:solidFill>
                  <a:srgbClr val="FFFFFF"/>
                </a:solidFill>
                <a:latin typeface="맑은 고딕"/>
              </a:rPr>
              <a:t>대회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26079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2026 전국 챔피언십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피드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597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마이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다른 학원 회원에게도 노출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우리 학원 파티·공연이 전체 뉴스피드에 올라갑니다.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1517904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1729"/>
                </a:solidFill>
                <a:latin typeface="맑은 고딕"/>
              </a:rPr>
              <a:t>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라 클라베 공지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1883664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📌 추석 연휴 휴강 안내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2066544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9/16 게시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176272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2212848"/>
            <a:ext cx="17373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10월 정기 발표회 신청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2395728"/>
            <a:ext cx="173735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9/12 게시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505456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전화 대신 공지 하나로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휴강·이벤트를 텍스트로 바로 올립니다 — OCR도 필요 없습니다.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마이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19" y="1883664"/>
            <a:ext cx="1737359" cy="640080"/>
          </a:xfrm>
          <a:prstGeom prst="roundRect">
            <a:avLst>
              <a:gd name="adj" fmla="val 16000"/>
            </a:avLst>
          </a:prstGeom>
          <a:solidFill>
            <a:srgbClr val="D8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196596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월 구독 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213969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다음 결제 10/13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19" y="2615184"/>
            <a:ext cx="1737359" cy="402336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1" y="2660903"/>
            <a:ext cx="1097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🎟 분기 1+1 수강권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1" y="2834639"/>
            <a:ext cx="109727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5C5266"/>
                </a:solidFill>
                <a:latin typeface="맑은 고딕"/>
              </a:rPr>
              <a:t>사용가능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59" y="2660903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600" b="1" i="0">
                <a:solidFill>
                  <a:srgbClr val="D8452F"/>
                </a:solidFill>
                <a:latin typeface="맑은 고딕"/>
              </a:rPr>
              <a:t>D-18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19" y="5175504"/>
            <a:ext cx="1737359" cy="5486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1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225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캘린더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59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0" i="0">
                <a:solidFill>
                  <a:srgbClr val="948AA0"/>
                </a:solidFill>
                <a:latin typeface="맑은 고딕"/>
              </a:rPr>
              <a:t>피드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0939" y="5221224"/>
            <a:ext cx="4343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i="0">
                <a:solidFill>
                  <a:srgbClr val="D8452F"/>
                </a:solidFill>
                <a:latin typeface="맑은 고딕"/>
              </a:rPr>
              <a:t>마이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예측 가능한 매출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구독 회원은 매달 자동 결제됩니다.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06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14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원장님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1729"/>
                </a:solidFill>
                <a:latin typeface="맑은 고딕"/>
              </a:rPr>
              <a:t>업로드 한 장이면, 나머지는 저희가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포스터 업로드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883664"/>
            <a:ext cx="1737359" cy="77724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948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1737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포스터 · PDF · 인스타 캡처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17373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끌어다 놓거나 눌러서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52344"/>
            <a:ext cx="1737359" cy="457200"/>
          </a:xfrm>
          <a:prstGeom prst="roundRect">
            <a:avLst>
              <a:gd name="adj" fmla="val 16000"/>
            </a:avLst>
          </a:prstGeom>
          <a:solidFill>
            <a:srgbClr val="F3EDF5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798063"/>
            <a:ext cx="1444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1729"/>
                </a:solidFill>
                <a:latin typeface="맑은 고딕"/>
              </a:rPr>
              <a:t>10월_시간표.jpg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7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C5266"/>
                </a:solidFill>
                <a:latin typeface="맑은 고딕"/>
              </a:rPr>
              <a:t>처리중 · 09:41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타이핑 없이 업로드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쓰던 포스터·전단지 사진 그대로 올리면 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92424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추출 결과 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1883664"/>
            <a:ext cx="1737359" cy="502920"/>
          </a:xfrm>
          <a:prstGeom prst="roundRect">
            <a:avLst>
              <a:gd name="adj" fmla="val 14000"/>
            </a:avLst>
          </a:prstGeom>
          <a:solidFill>
            <a:srgbClr val="E9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8576" y="2148840"/>
            <a:ext cx="5943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2148840"/>
            <a:ext cx="594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1F1729"/>
                </a:solidFill>
                <a:latin typeface="맑은 고딕"/>
              </a:rPr>
              <a:t>원본 보기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2459736"/>
            <a:ext cx="1737359" cy="365760"/>
          </a:xfrm>
          <a:prstGeom prst="roundRect">
            <a:avLst>
              <a:gd name="adj" fmla="val 14000"/>
            </a:avLst>
          </a:prstGeom>
          <a:noFill/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2496312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장르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642616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살사 중급반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0440" y="2898648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5304" y="2935224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3081528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화 20:00–21:00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3081528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337560"/>
            <a:ext cx="1737359" cy="365760"/>
          </a:xfrm>
          <a:prstGeom prst="roundRect">
            <a:avLst>
              <a:gd name="adj" fmla="val 14000"/>
            </a:avLst>
          </a:prstGeom>
          <a:noFill/>
          <a:ln w="16510">
            <a:solidFill>
              <a:srgbClr val="D84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5304" y="3374136"/>
            <a:ext cx="14630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i="0">
                <a:solidFill>
                  <a:srgbClr val="948AA0"/>
                </a:solidFill>
                <a:latin typeface="맑은 고딕"/>
              </a:rPr>
              <a:t>가격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5304" y="3520440"/>
            <a:ext cx="91439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i="0">
                <a:solidFill>
                  <a:srgbClr val="1F1729"/>
                </a:solidFill>
                <a:latin typeface="맑은 고딕"/>
              </a:rPr>
              <a:t>45,000원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520440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60" b="1" i="0">
                <a:solidFill>
                  <a:srgbClr val="D8452F"/>
                </a:solidFill>
                <a:latin typeface="맑은 고딕"/>
              </a:rPr>
              <a:t>확인필요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확인만 하면 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자동으로 채워진 내용을 한 번 보고 게시 버튼만 누르시면 됩니다.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1371600"/>
            <a:ext cx="2103120" cy="4160520"/>
          </a:xfrm>
          <a:prstGeom prst="roundRect">
            <a:avLst>
              <a:gd name="adj" fmla="val 10000"/>
            </a:avLst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89903" y="1426464"/>
            <a:ext cx="1993391" cy="4050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19" y="1517904"/>
            <a:ext cx="1737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이번 달 정산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1792224"/>
            <a:ext cx="1737359" cy="7315"/>
          </a:xfrm>
          <a:prstGeom prst="rect">
            <a:avLst/>
          </a:prstGeom>
          <a:solidFill>
            <a:srgbClr val="EE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19" y="1883664"/>
            <a:ext cx="1737359" cy="685800"/>
          </a:xfrm>
          <a:prstGeom prst="roundRect">
            <a:avLst>
              <a:gd name="adj" fmla="val 16000"/>
            </a:avLst>
          </a:prstGeom>
          <a:solidFill>
            <a:srgbClr val="3D4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1965960"/>
            <a:ext cx="13715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맑은 고딕"/>
              </a:rPr>
              <a:t>실지급액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2139696"/>
            <a:ext cx="1371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맑은 고딕"/>
              </a:rPr>
              <a:t>3,214,000원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19" y="2660904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플랫폼 수수료 (8%)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7203" y="2660904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-276,000원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19" y="2898648"/>
            <a:ext cx="11292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i="0">
                <a:solidFill>
                  <a:srgbClr val="5C5266"/>
                </a:solidFill>
                <a:latin typeface="맑은 고딕"/>
              </a:rPr>
              <a:t>신규 회원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7203" y="2898648"/>
            <a:ext cx="6080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i="0">
                <a:solidFill>
                  <a:srgbClr val="1F1729"/>
                </a:solidFill>
                <a:latin typeface="맑은 고딕"/>
              </a:rPr>
              <a:t>14명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660136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8452F"/>
                </a:solidFill>
                <a:latin typeface="IBM Plex Mono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86130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F1729"/>
                </a:solidFill>
                <a:latin typeface="맑은 고딕"/>
              </a:rPr>
              <a:t>장부 정리가 사라집니다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6099048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5C5266"/>
                </a:solidFill>
                <a:latin typeface="맑은 고딕"/>
              </a:rPr>
              <a:t>카드·현금·계좌이체 결제가 한 화면에 자동으로 정리됩니다.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07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1729"/>
                </a:solidFill>
                <a:latin typeface="맑은 고딕"/>
              </a:rPr>
              <a:t>“할인·쿠폰, 저희가 부담하나요?”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C5266"/>
                </a:solidFill>
                <a:latin typeface="맑은 고딕"/>
              </a:rPr>
              <a:t>네, 할인·쿠폰의 차액은 학원이 부담합니다. 대신 검색·추천·자동등록·결제 인프라는 플랫폼이 전부 무료로 제공합니다.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774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774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부담 주체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3774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48AA0"/>
                </a:solidFill>
                <a:latin typeface="맑은 고딕"/>
              </a:rPr>
              <a:t>학원 정산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8346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대학생 전용 · 1개월차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8346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학원(업주)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28346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무료 — 학원 정산 0원 (결제 자체 없음)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2918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대학생 전용 · 2개월차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2918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학원(업주)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2918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반값 결제액 기준 정산, 수수료 8%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749039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대학생 전용 · 3개월차부터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74903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학생 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749039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정상가, 수수료 8%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2062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월 구독 · 분기 1+1 수강권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062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 (좌석 1개 무료 제공)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42062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결제된 1건엔 정상 수수료 8%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63440"/>
            <a:ext cx="10058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66344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F1729"/>
                </a:solidFill>
                <a:latin typeface="맑은 고딕"/>
              </a:rPr>
              <a:t>일반 결제 수수료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6634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학원 (수수료 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66344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결제액의 92% 지급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8AA0"/>
                </a:solidFill>
                <a:latin typeface="IBM Plex Mono"/>
              </a:rPr>
              <a:t>08 /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D8452F"/>
                </a:solidFill>
                <a:latin typeface="맑은 고딕"/>
              </a:rPr>
              <a:t>입점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1729"/>
                </a:solidFill>
                <a:latin typeface="맑은 고딕"/>
              </a:rPr>
              <a:t>서류 없이, 3단계면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계좌·사업자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정산받을 계좌와 사업자등록증만 준비하시면 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포스터 한 장만 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쓰시던 포스터·전단지 사진을 올리면 장르·시간표·가격이 자동으로 채워집니다.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10312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E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2860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8801A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1729"/>
                </a:solidFill>
                <a:latin typeface="맑은 고딕"/>
              </a:rPr>
              <a:t>베타 오픈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2461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C5266"/>
                </a:solidFill>
                <a:latin typeface="맑은 고딕"/>
              </a:rPr>
              <a:t>베타서비스 6개월은 수수료 없이 운영하고, 7개월차부터 정상 수수료를 청구합니다.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1729"/>
                </a:solidFill>
                <a:latin typeface="맑은 고딕"/>
              </a:rPr>
              <a:t>지금 시작하면, 첫 6개월은 수수료가 없습니다.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266"/>
                </a:solidFill>
                <a:latin typeface="맑은 고딕"/>
              </a:rPr>
              <a:t>베타서비스 6개월 동안은 정산 수수료를 전액 면제하고, 이후 정상 수수료를 청구합니다.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맑은 고딕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C8BED2"/>
                </a:solidFill>
                <a:latin typeface="맑은 고딕"/>
              </a:rPr>
              <a:t>09 / 09 · 소셜댄스 입점 설명회 (화면 12개 전체 기준)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